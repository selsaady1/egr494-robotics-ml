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352613-872C-4284-88E6-DEF8493B7CCD}">
  <a:tblStyle styleId="{6B352613-872C-4284-88E6-DEF8493B7C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c3e5c54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c3e5c54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c3e5c54f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c3e5c54f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c3e5c54f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c3e5c54f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c3e5c54f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c3e5c54f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c3e5c54f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c3e5c54f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c3e5c54f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c3e5c54f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c3e5c54f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c3e5c54f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c3e5c54f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c3e5c54f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c3e5c54f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c3e5c54f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c3e5c54f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c3e5c54f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c3e5c54f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c3e5c54f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c3e5c54f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c3e5c54f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c3e5c54f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c3e5c54f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c3e5c54f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c3e5c54f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3e5c54f6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3e5c54f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c5baa1bd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c5baa1bd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c3e5c54f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c3e5c54f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infineon.com/dgdl/Infineon-IPW60R037P7-DS-v02_03-EN.pdf?fileId=5546d46259d9a4bf015a5bb7bab83ca7" TargetMode="External"/><Relationship Id="rId4" Type="http://schemas.openxmlformats.org/officeDocument/2006/relationships/hyperlink" Target="https://www.vishay.com/docs/88627/gi750.pdf" TargetMode="External"/><Relationship Id="rId5" Type="http://schemas.openxmlformats.org/officeDocument/2006/relationships/hyperlink" Target="https://industrial.panasonic.com/cdbs/www-data/pdf/RDF0000/ABA0000C1259.pdf" TargetMode="External"/><Relationship Id="rId6" Type="http://schemas.openxmlformats.org/officeDocument/2006/relationships/hyperlink" Target="https://www.vishay.com/docs/28458/193pursi.pdf" TargetMode="External"/><Relationship Id="rId7" Type="http://schemas.openxmlformats.org/officeDocument/2006/relationships/hyperlink" Target="https://www.vishay.com/docs/28729/pr010203.pdf" TargetMode="External"/><Relationship Id="rId8" Type="http://schemas.openxmlformats.org/officeDocument/2006/relationships/hyperlink" Target="https://www.cde.com/resources/catalogs/716p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digikey.com" TargetMode="External"/><Relationship Id="rId22" Type="http://schemas.openxmlformats.org/officeDocument/2006/relationships/hyperlink" Target="https://www.digikey.com" TargetMode="External"/><Relationship Id="rId21" Type="http://schemas.openxmlformats.org/officeDocument/2006/relationships/hyperlink" Target="https://www.digikey.com" TargetMode="External"/><Relationship Id="rId24" Type="http://schemas.openxmlformats.org/officeDocument/2006/relationships/hyperlink" Target="https://www.mouser.com" TargetMode="External"/><Relationship Id="rId23" Type="http://schemas.openxmlformats.org/officeDocument/2006/relationships/hyperlink" Target="https://www.mouser.com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mouser.com" TargetMode="External"/><Relationship Id="rId4" Type="http://schemas.openxmlformats.org/officeDocument/2006/relationships/hyperlink" Target="https://www.mouser.com" TargetMode="External"/><Relationship Id="rId9" Type="http://schemas.openxmlformats.org/officeDocument/2006/relationships/hyperlink" Target="https://www.digikey.com" TargetMode="External"/><Relationship Id="rId26" Type="http://schemas.openxmlformats.org/officeDocument/2006/relationships/hyperlink" Target="https://www.mathworks.com" TargetMode="External"/><Relationship Id="rId25" Type="http://schemas.openxmlformats.org/officeDocument/2006/relationships/hyperlink" Target="https://www.mathworks.com" TargetMode="External"/><Relationship Id="rId5" Type="http://schemas.openxmlformats.org/officeDocument/2006/relationships/hyperlink" Target="https://www.mouser.com" TargetMode="External"/><Relationship Id="rId6" Type="http://schemas.openxmlformats.org/officeDocument/2006/relationships/hyperlink" Target="https://www.mouser.com" TargetMode="External"/><Relationship Id="rId7" Type="http://schemas.openxmlformats.org/officeDocument/2006/relationships/hyperlink" Target="https://www.analog.com" TargetMode="External"/><Relationship Id="rId8" Type="http://schemas.openxmlformats.org/officeDocument/2006/relationships/hyperlink" Target="https://www.analog.com" TargetMode="External"/><Relationship Id="rId11" Type="http://schemas.openxmlformats.org/officeDocument/2006/relationships/hyperlink" Target="https://www.mouser.com" TargetMode="External"/><Relationship Id="rId10" Type="http://schemas.openxmlformats.org/officeDocument/2006/relationships/hyperlink" Target="https://www.digikey.com" TargetMode="External"/><Relationship Id="rId13" Type="http://schemas.openxmlformats.org/officeDocument/2006/relationships/hyperlink" Target="https://www.ti.com" TargetMode="External"/><Relationship Id="rId12" Type="http://schemas.openxmlformats.org/officeDocument/2006/relationships/hyperlink" Target="https://www.mouser.com" TargetMode="External"/><Relationship Id="rId15" Type="http://schemas.openxmlformats.org/officeDocument/2006/relationships/hyperlink" Target="https://www.digikey.com" TargetMode="External"/><Relationship Id="rId14" Type="http://schemas.openxmlformats.org/officeDocument/2006/relationships/hyperlink" Target="https://www.ti.com" TargetMode="External"/><Relationship Id="rId17" Type="http://schemas.openxmlformats.org/officeDocument/2006/relationships/hyperlink" Target="https://www.we-online.com" TargetMode="External"/><Relationship Id="rId16" Type="http://schemas.openxmlformats.org/officeDocument/2006/relationships/hyperlink" Target="https://www.digikey.com" TargetMode="External"/><Relationship Id="rId19" Type="http://schemas.openxmlformats.org/officeDocument/2006/relationships/hyperlink" Target="https://www.digikey.com" TargetMode="External"/><Relationship Id="rId18" Type="http://schemas.openxmlformats.org/officeDocument/2006/relationships/hyperlink" Target="https://www.we-onlin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66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Design of an Isolated Power Supply for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Cell Phone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Charging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18700"/>
            <a:ext cx="8520600" cy="16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Justin Alam, Saif Elsaady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Arizona State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00" y="4227975"/>
            <a:ext cx="3366476" cy="83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4833" y="3666074"/>
            <a:ext cx="1558776" cy="139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&amp; </a:t>
            </a:r>
            <a:r>
              <a:rPr lang="en"/>
              <a:t>Project</a:t>
            </a:r>
            <a:r>
              <a:rPr lang="en"/>
              <a:t> Scope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25500" y="990850"/>
            <a:ext cx="4592400" cy="3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2971"/>
              <a:buFont typeface="Arial"/>
              <a:buNone/>
            </a:pPr>
            <a:r>
              <a:t/>
            </a:r>
            <a:endParaRPr b="1" sz="1326">
              <a:solidFill>
                <a:schemeClr val="dk1"/>
              </a:solidFill>
            </a:endParaRPr>
          </a:p>
          <a:p>
            <a:pPr indent="-30015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326">
                <a:solidFill>
                  <a:schemeClr val="dk1"/>
                </a:solidFill>
              </a:rPr>
              <a:t>Objective:</a:t>
            </a:r>
            <a:r>
              <a:rPr lang="en" sz="1326">
                <a:solidFill>
                  <a:schemeClr val="dk1"/>
                </a:solidFill>
              </a:rPr>
              <a:t> Design a 5V, 30W isolated power supply with universal AC input (85V–265V RMS).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326">
                <a:solidFill>
                  <a:schemeClr val="dk1"/>
                </a:solidFill>
              </a:rPr>
              <a:t>Topology:</a:t>
            </a:r>
            <a:r>
              <a:rPr lang="en" sz="1326">
                <a:solidFill>
                  <a:schemeClr val="dk1"/>
                </a:solidFill>
              </a:rPr>
              <a:t> Flyback converter for simplicity, cost, and performance.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326">
                <a:solidFill>
                  <a:schemeClr val="dk1"/>
                </a:solidFill>
              </a:rPr>
              <a:t>Key Metrics:</a:t>
            </a:r>
            <a:r>
              <a:rPr lang="en" sz="1326">
                <a:solidFill>
                  <a:schemeClr val="dk1"/>
                </a:solidFill>
              </a:rPr>
              <a:t> 75.65% efficiency, &lt;50mV ripple, stable operation across input ranges.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326">
                <a:solidFill>
                  <a:schemeClr val="dk1"/>
                </a:solidFill>
              </a:rPr>
              <a:t>Tools Used:</a:t>
            </a:r>
            <a:r>
              <a:rPr lang="en" sz="1326">
                <a:solidFill>
                  <a:schemeClr val="dk1"/>
                </a:solidFill>
              </a:rPr>
              <a:t> Texas Instruments Power Stage Designer, MATLAB.</a:t>
            </a:r>
            <a:endParaRPr sz="1326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26">
                <a:solidFill>
                  <a:schemeClr val="dk1"/>
                </a:solidFill>
              </a:rPr>
              <a:t>Key Requirements:</a:t>
            </a:r>
            <a:endParaRPr b="1" sz="1326">
              <a:solidFill>
                <a:schemeClr val="dk1"/>
              </a:solidFill>
            </a:endParaRPr>
          </a:p>
          <a:p>
            <a:pPr indent="-30015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326">
                <a:solidFill>
                  <a:schemeClr val="dk1"/>
                </a:solidFill>
              </a:rPr>
              <a:t>Input:</a:t>
            </a:r>
            <a:r>
              <a:rPr lang="en" sz="1326">
                <a:solidFill>
                  <a:schemeClr val="dk1"/>
                </a:solidFill>
              </a:rPr>
              <a:t> Universal AC (85V–265V RMS, 60Hz).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326">
                <a:solidFill>
                  <a:schemeClr val="dk1"/>
                </a:solidFill>
              </a:rPr>
              <a:t>Output:</a:t>
            </a:r>
            <a:r>
              <a:rPr lang="en" sz="1326">
                <a:solidFill>
                  <a:schemeClr val="dk1"/>
                </a:solidFill>
              </a:rPr>
              <a:t> 5V DC, 30W with galvanic isolation.</a:t>
            </a:r>
            <a:endParaRPr sz="1326">
              <a:solidFill>
                <a:schemeClr val="dk1"/>
              </a:solidFill>
            </a:endParaRPr>
          </a:p>
          <a:p>
            <a:pPr indent="-3001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26">
                <a:solidFill>
                  <a:schemeClr val="dk1"/>
                </a:solidFill>
              </a:rPr>
              <a:t>Ripple Voltage: Less than 50 mV.</a:t>
            </a:r>
            <a:endParaRPr sz="132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26">
                <a:solidFill>
                  <a:schemeClr val="dk1"/>
                </a:solidFill>
              </a:rPr>
              <a:t>Applications:</a:t>
            </a:r>
            <a:endParaRPr b="1" sz="1326">
              <a:solidFill>
                <a:schemeClr val="dk1"/>
              </a:solidFill>
            </a:endParaRPr>
          </a:p>
          <a:p>
            <a:pPr indent="-30015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326">
                <a:solidFill>
                  <a:schemeClr val="dk1"/>
                </a:solidFill>
              </a:rPr>
              <a:t>Consumer electronics and portable chargers.</a:t>
            </a:r>
            <a:endParaRPr sz="132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725" y="332775"/>
            <a:ext cx="3313150" cy="465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Topology Selection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119625" y="1152475"/>
            <a:ext cx="247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Flyback Converter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Why?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Efficiency for low power (&lt;100W).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Galvanic isolation via transformer.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Compact and cost-effective.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Alternatives:</a:t>
            </a:r>
            <a:r>
              <a:rPr lang="en" sz="1100">
                <a:solidFill>
                  <a:schemeClr val="dk1"/>
                </a:solidFill>
              </a:rPr>
              <a:t> Buck, Forward, Push-Pull, and Bridge converters (with limitations).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175" y="1017725"/>
            <a:ext cx="6354023" cy="389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Design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9961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98">
                <a:solidFill>
                  <a:schemeClr val="dk1"/>
                </a:solidFill>
              </a:rPr>
              <a:t>AC to DC Conversion:</a:t>
            </a:r>
            <a:endParaRPr b="1"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A bridge rectifier (four diodes) converts the universal AC input (85V–265V RMS) into pulsating DC.</a:t>
            </a:r>
            <a:endParaRPr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An input capacitor (470 μF, 400V) smooths the rectified voltage and reduces ripple.</a:t>
            </a:r>
            <a:endParaRPr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This provides a stable DC input for the primary side of the transformer.</a:t>
            </a:r>
            <a:endParaRPr sz="1598">
              <a:solidFill>
                <a:schemeClr val="dk1"/>
              </a:solidFill>
            </a:endParaRPr>
          </a:p>
          <a:p>
            <a:pPr indent="-2996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98">
                <a:solidFill>
                  <a:schemeClr val="dk1"/>
                </a:solidFill>
              </a:rPr>
              <a:t>Transformer and Storage:</a:t>
            </a:r>
            <a:endParaRPr b="1"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Custom transformer with a 40:1 turns ratio and 34,000 μH inductance.</a:t>
            </a:r>
            <a:endParaRPr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Provides galvanic isolation between the input and output for user safety.</a:t>
            </a:r>
            <a:endParaRPr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Stores energy in the magnetic core during the "on" phase of the MOSFET.</a:t>
            </a:r>
            <a:endParaRPr sz="1598">
              <a:solidFill>
                <a:schemeClr val="dk1"/>
              </a:solidFill>
            </a:endParaRPr>
          </a:p>
          <a:p>
            <a:pPr indent="-2996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98">
                <a:solidFill>
                  <a:schemeClr val="dk1"/>
                </a:solidFill>
              </a:rPr>
              <a:t>Switching and Transfer:</a:t>
            </a:r>
            <a:endParaRPr b="1"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MOSFET (650V, 10A, RDS(on)=37mΩ) controlled via pulse-width modulation (PWM).</a:t>
            </a:r>
            <a:endParaRPr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A snubber circuit (100Ω resistor, 10nF capacitor) dampens voltage spikes caused by transformer leakage inductance.</a:t>
            </a:r>
            <a:endParaRPr sz="1598">
              <a:solidFill>
                <a:schemeClr val="dk1"/>
              </a:solidFill>
            </a:endParaRPr>
          </a:p>
          <a:p>
            <a:pPr indent="-2996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98">
                <a:solidFill>
                  <a:schemeClr val="dk1"/>
                </a:solidFill>
              </a:rPr>
              <a:t>Output Rectification and Filtering:</a:t>
            </a:r>
            <a:endParaRPr b="1"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A Schottky diode (200V, 6A) rectifies the transformer’s secondary voltage.</a:t>
            </a:r>
            <a:endParaRPr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The output capacitor (1000 μF, 10V, low ESR) reduces ripple voltage to &lt;50mV.</a:t>
            </a:r>
            <a:endParaRPr sz="1598">
              <a:solidFill>
                <a:schemeClr val="dk1"/>
              </a:solidFill>
            </a:endParaRPr>
          </a:p>
          <a:p>
            <a:pPr indent="-2996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98">
                <a:solidFill>
                  <a:schemeClr val="dk1"/>
                </a:solidFill>
              </a:rPr>
              <a:t>Feedback Loop:</a:t>
            </a:r>
            <a:endParaRPr b="1"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Monitors the output voltage and adjusts the PWM signal driving the MOSFET.</a:t>
            </a:r>
            <a:endParaRPr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Ensures a steady 5V output, even under input or load variations.</a:t>
            </a:r>
            <a:endParaRPr sz="1598">
              <a:solidFill>
                <a:schemeClr val="dk1"/>
              </a:solidFill>
            </a:endParaRPr>
          </a:p>
          <a:p>
            <a:pPr indent="-2996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98">
                <a:solidFill>
                  <a:schemeClr val="dk1"/>
                </a:solidFill>
              </a:rPr>
              <a:t>Feedback is transmitted through an optocoupler for isolation.</a:t>
            </a:r>
            <a:endParaRPr sz="159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125" y="835162"/>
            <a:ext cx="7985577" cy="34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19575" y="4120225"/>
            <a:ext cx="84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AC Input -&gt; Diode Bridge -&gt; IGBT Switch -&gt; Transformer -&gt; Diode -&gt; RC -&gt; Output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2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Component Selection</a:t>
            </a:r>
            <a:endParaRPr/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1538288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{6B352613-872C-4284-88E6-DEF8493B7CCD}</a:tableStyleId>
              </a:tblPr>
              <a:tblGrid>
                <a:gridCol w="1114425"/>
                <a:gridCol w="2952750"/>
                <a:gridCol w="1552575"/>
                <a:gridCol w="447675"/>
              </a:tblGrid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 Number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Turns ratio: 40:1, Inductance: 34,000 μH.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 Designed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N/A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MOSFET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650V, 10A, RDS(on)=37 mΩ.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IPW60R037P7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Here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Diode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Reverse voltage: 200V, Forward current: 6A.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GI752-E3/54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Here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Output Capacitor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1,000 μF, 10V, Low ESR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EEU-FR1A102LB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Here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Capacitor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470 μF, 400V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MAL219366471E3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Here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Snubber Resistor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 Ω, 2W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PR02000201000JR500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Here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Snubber Capacitor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 nF, 600V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716P10396JA1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Here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Simulation Setup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9975"/>
            <a:ext cx="8839199" cy="28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Waveforms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550" y="1206175"/>
            <a:ext cx="3334475" cy="215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625" y="1128525"/>
            <a:ext cx="3882476" cy="188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625" y="3119600"/>
            <a:ext cx="3882475" cy="175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994462" y="3827975"/>
            <a:ext cx="283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Input Voltage AC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167025" y="18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Waveforms</a:t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2740678" y="4102900"/>
            <a:ext cx="644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After diode bridge… Conversion of AC -&gt; DC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7075" y="760800"/>
            <a:ext cx="6052100" cy="322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101275" y="955938"/>
            <a:ext cx="2445300" cy="29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smoothing capacitor reduces the ripple, creating a steadier DC signal with minor variations. This provides a stable input for the transformer in the next stage.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195950" y="24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Waveforms</a:t>
            </a:r>
            <a:endParaRPr/>
          </a:p>
        </p:txBody>
      </p:sp>
      <p:sp>
        <p:nvSpPr>
          <p:cNvPr id="118" name="Google Shape;118;p22"/>
          <p:cNvSpPr txBox="1"/>
          <p:nvPr/>
        </p:nvSpPr>
        <p:spPr>
          <a:xfrm>
            <a:off x="3848601" y="4160775"/>
            <a:ext cx="51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Transformer Secondary Voltage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625" y="818675"/>
            <a:ext cx="5370826" cy="317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268300" y="1051475"/>
            <a:ext cx="2929200" cy="3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During the </a:t>
            </a:r>
            <a:r>
              <a:rPr lang="en" sz="1300">
                <a:solidFill>
                  <a:schemeClr val="dk1"/>
                </a:solidFill>
              </a:rPr>
              <a:t>MOSFET</a:t>
            </a:r>
            <a:r>
              <a:rPr lang="en" sz="1300">
                <a:solidFill>
                  <a:schemeClr val="dk1"/>
                </a:solidFill>
              </a:rPr>
              <a:t> "on" phase, the transformer stores energy, and during the "off" phase, it transfers this energy to the secondary winding, creating the alternating waveform.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DC offset arises due to the transformer's operation in </a:t>
            </a:r>
            <a:r>
              <a:rPr b="1" lang="en" sz="1300">
                <a:solidFill>
                  <a:schemeClr val="dk1"/>
                </a:solidFill>
              </a:rPr>
              <a:t>Continuous Conduction Mode (CCM)</a:t>
            </a:r>
            <a:r>
              <a:rPr lang="en" sz="1300">
                <a:solidFill>
                  <a:schemeClr val="dk1"/>
                </a:solidFill>
              </a:rPr>
              <a:t>, ensuring steady energy transfer and minimizing ripple.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195950" y="24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Waveforms</a:t>
            </a:r>
            <a:endParaRPr/>
          </a:p>
        </p:txBody>
      </p:sp>
      <p:sp>
        <p:nvSpPr>
          <p:cNvPr id="126" name="Google Shape;126;p23"/>
          <p:cNvSpPr txBox="1"/>
          <p:nvPr/>
        </p:nvSpPr>
        <p:spPr>
          <a:xfrm>
            <a:off x="2772950" y="4146300"/>
            <a:ext cx="605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Final Output Voltage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950" y="818675"/>
            <a:ext cx="59436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195950" y="998300"/>
            <a:ext cx="2148000" cy="4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output waveform is a </a:t>
            </a:r>
            <a:r>
              <a:rPr b="1" lang="en" sz="1600">
                <a:solidFill>
                  <a:schemeClr val="dk1"/>
                </a:solidFill>
              </a:rPr>
              <a:t>steady DC signal at 4.79V</a:t>
            </a:r>
            <a:r>
              <a:rPr lang="en" sz="1600">
                <a:solidFill>
                  <a:schemeClr val="dk1"/>
                </a:solidFill>
              </a:rPr>
              <a:t> with a light ripple.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600">
                <a:solidFill>
                  <a:schemeClr val="dk1"/>
                </a:solidFill>
              </a:rPr>
              <a:t>This regulated waveform ensures a consistent output suitable for powering sensitive electronic devices.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Results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3160800" cy="3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Waveform Analysis: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Input Voltage:</a:t>
            </a:r>
            <a:r>
              <a:rPr lang="en" sz="1100">
                <a:solidFill>
                  <a:schemeClr val="dk1"/>
                </a:solidFill>
              </a:rPr>
              <a:t> Smooth transition from AC to pulsating DC.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Transformer Secondary Voltage:</a:t>
            </a:r>
            <a:r>
              <a:rPr lang="en" sz="1100">
                <a:solidFill>
                  <a:schemeClr val="dk1"/>
                </a:solidFill>
              </a:rPr>
              <a:t> Accurate step-down based on turns ratio.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Final Output:</a:t>
            </a:r>
            <a:r>
              <a:rPr lang="en" sz="1100">
                <a:solidFill>
                  <a:schemeClr val="dk1"/>
                </a:solidFill>
              </a:rPr>
              <a:t> Regulated almost 5V DC with minimal ripple.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Performance Metrics: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Efficiency: 75.65%.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Effective</a:t>
            </a:r>
            <a:r>
              <a:rPr lang="en" sz="1100">
                <a:solidFill>
                  <a:schemeClr val="dk1"/>
                </a:solidFill>
              </a:rPr>
              <a:t> power conversion </a:t>
            </a:r>
            <a:r>
              <a:rPr lang="en" sz="1100">
                <a:solidFill>
                  <a:schemeClr val="dk1"/>
                </a:solidFill>
              </a:rPr>
              <a:t>according</a:t>
            </a:r>
            <a:r>
              <a:rPr lang="en" sz="1100">
                <a:solidFill>
                  <a:schemeClr val="dk1"/>
                </a:solidFill>
              </a:rPr>
              <a:t> to calculation!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825" y="908763"/>
            <a:ext cx="4945475" cy="39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Analysis and Efficiency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3111900" cy="38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Diode Losses (4.2W):</a:t>
            </a:r>
            <a:r>
              <a:rPr lang="en" sz="1100">
                <a:solidFill>
                  <a:schemeClr val="dk1"/>
                </a:solidFill>
              </a:rPr>
              <a:t> Largest contributor due to forward voltage drop.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Copper Losses (3.61W):</a:t>
            </a:r>
            <a:r>
              <a:rPr lang="en" sz="1100">
                <a:solidFill>
                  <a:schemeClr val="dk1"/>
                </a:solidFill>
              </a:rPr>
              <a:t> Significant heat from transformer winding resistance.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MOSFET Losses (1.63W):</a:t>
            </a:r>
            <a:r>
              <a:rPr lang="en" sz="1100">
                <a:solidFill>
                  <a:schemeClr val="dk1"/>
                </a:solidFill>
              </a:rPr>
              <a:t> Moderate due to switching inefficiencies.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Core Losses (0.225W):</a:t>
            </a:r>
            <a:r>
              <a:rPr lang="en" sz="1100">
                <a:solidFill>
                  <a:schemeClr val="dk1"/>
                </a:solidFill>
              </a:rPr>
              <a:t> Minimal, indicating efficient core material.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Total Losses (9.665W):</a:t>
            </a:r>
            <a:r>
              <a:rPr lang="en" sz="1100">
                <a:solidFill>
                  <a:schemeClr val="dk1"/>
                </a:solidFill>
              </a:rPr>
              <a:t> Room for optimization to improve 75.65% efficiency.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425" y="1152475"/>
            <a:ext cx="4372850" cy="36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Improvements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397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Challenges: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 switching losses.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Noise and EMI issues.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Tuning feedback control.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Proposed Improvements: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Replace MOSFET with GaN transistors for lower losses and faster switching.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Introduce soft-switching to minimize switching losses and improve efficiency.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Optimize transformer design and implement EMI shielding for better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7475" y="1474925"/>
            <a:ext cx="4556699" cy="266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398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Summary: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Successfully designed and simulated a 5V, 30W isolated power supply.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Achieved galvanic isolation, regulated output, and stable operation.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Next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Build a hardware prototype to validate design in real-world conditions.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Investigate advanced topologies and methods to further enhance efficiency and reduce losses.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375" y="3074125"/>
            <a:ext cx="2247301" cy="16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200" y="696675"/>
            <a:ext cx="2479326" cy="13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/>
          <p:nvPr/>
        </p:nvSpPr>
        <p:spPr>
          <a:xfrm rot="5401742">
            <a:off x="6427775" y="2360081"/>
            <a:ext cx="592200" cy="24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Saif: Circuit Design, Graphics, Calculations, Report, </a:t>
            </a:r>
            <a:r>
              <a:rPr lang="en"/>
              <a:t>Presentation</a:t>
            </a:r>
            <a:r>
              <a:rPr lang="en"/>
              <a:t>, Research, Tool </a:t>
            </a:r>
            <a:r>
              <a:rPr lang="en"/>
              <a:t>usage, </a:t>
            </a:r>
            <a:r>
              <a:rPr lang="en"/>
              <a:t>&amp; Simulation.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Justin: </a:t>
            </a:r>
            <a:r>
              <a:rPr lang="en"/>
              <a:t>Circuit Design, Calculations, Report, Presentation, Research, Further Improvements, &amp; Simulation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3956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Erickson, R. W., &amp; Maksimovic, D. (2007).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power electronics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Springer.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Infineon Technologies. (n.d.).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IPW60R037P7 MOSFET datasheet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https://www.mouser.com</a:t>
            </a:r>
            <a:endParaRPr sz="11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KEMET. (n.d.).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C330C103KDR5TA capacitor datasheet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https://www.mouser.com</a:t>
            </a:r>
            <a:endParaRPr sz="11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LTspice. (n.d.).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LTspice user guide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Analog Devices. Retrieved from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https://www.analog.com</a:t>
            </a:r>
            <a:endParaRPr sz="11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Mohan, N., Undeland, T. M., &amp; Robbins, W. P. (2002).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electronics: Converters, applications, and design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John Wiley &amp; Sons.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Nichicon Corporation. (n.d.).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UPW1A102MPD capacitor datasheet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https://www.digikey.com</a:t>
            </a:r>
            <a:endParaRPr sz="11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Panasonic. (n.d.).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EEUEB2G471 capacitor datasheet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https://www.mouser.com</a:t>
            </a:r>
            <a:endParaRPr sz="11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Singh, M. D., &amp; Khanchandani, K. B. (2007).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electronics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Tata McGraw-Hill Education.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50"/>
          </a:p>
        </p:txBody>
      </p:sp>
      <p:sp>
        <p:nvSpPr>
          <p:cNvPr id="171" name="Google Shape;171;p29"/>
          <p:cNvSpPr txBox="1"/>
          <p:nvPr/>
        </p:nvSpPr>
        <p:spPr>
          <a:xfrm>
            <a:off x="4629875" y="1099600"/>
            <a:ext cx="4094400" cy="3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Texas Instruments. (n.d.).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Flyback converter design guide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https://www.ti.com</a:t>
            </a:r>
            <a:endParaRPr sz="10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Vishay Semiconductor Diodes Division. (n.d.).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VS-20ETX06-M3 diode datasheet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https://www.digikey.com</a:t>
            </a:r>
            <a:endParaRPr sz="10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Wurth Elektronik. (n.d.).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 design for flyback converters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https://www.we-online.com</a:t>
            </a:r>
            <a:endParaRPr sz="10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Wu, X., &amp; Chen, W. (2016).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Resonant and soft-switching converters: Principles, designs, and applications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Wiley-IEEE Press.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Yageo. (n.d.).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RS-1002 resistor datasheet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https://www.digikey.com</a:t>
            </a:r>
            <a:endParaRPr sz="10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Digikey Electronics. (n.d.).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selection and design resources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https://www.digikey.com</a:t>
            </a:r>
            <a:endParaRPr sz="10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Mouser Electronics. (n.d.).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supply design resources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https://www.mouser.com</a:t>
            </a:r>
            <a:endParaRPr sz="1000" u="sng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[16] MATLAB. (n.d.). </a:t>
            </a:r>
            <a:r>
              <a:rPr i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Simulink control design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MathWorks. Retrieved from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https://www.mathworks.com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